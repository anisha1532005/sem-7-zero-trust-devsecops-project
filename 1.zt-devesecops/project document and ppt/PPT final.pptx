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6" r:id="rId9"/>
    <p:sldId id="267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913" y="397586"/>
            <a:ext cx="10628172" cy="797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449069"/>
            <a:ext cx="9536430" cy="404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744" y="466344"/>
            <a:ext cx="1039368" cy="10850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algn="ctr">
              <a:lnSpc>
                <a:spcPts val="2795"/>
              </a:lnSpc>
              <a:spcBef>
                <a:spcPts val="100"/>
              </a:spcBef>
            </a:pPr>
            <a:r>
              <a:rPr spc="-40" dirty="0"/>
              <a:t>SRI</a:t>
            </a:r>
            <a:r>
              <a:rPr spc="-165" dirty="0"/>
              <a:t> </a:t>
            </a:r>
            <a:r>
              <a:rPr spc="-10" dirty="0"/>
              <a:t>SHAKTHI</a:t>
            </a:r>
            <a:r>
              <a:rPr spc="-210" dirty="0"/>
              <a:t> </a:t>
            </a:r>
            <a:r>
              <a:rPr dirty="0"/>
              <a:t>INSTITUTE</a:t>
            </a:r>
            <a:r>
              <a:rPr spc="-20" dirty="0"/>
              <a:t> </a:t>
            </a:r>
            <a:r>
              <a:rPr dirty="0"/>
              <a:t>OF</a:t>
            </a:r>
            <a:r>
              <a:rPr spc="-265" dirty="0"/>
              <a:t> </a:t>
            </a:r>
            <a:r>
              <a:rPr spc="-35" dirty="0"/>
              <a:t>ENGINEERING</a:t>
            </a:r>
            <a:r>
              <a:rPr spc="-65" dirty="0"/>
              <a:t> </a:t>
            </a:r>
            <a:r>
              <a:rPr spc="-25" dirty="0"/>
              <a:t>AND</a:t>
            </a:r>
          </a:p>
          <a:p>
            <a:pPr marL="327025" algn="ctr">
              <a:lnSpc>
                <a:spcPts val="2795"/>
              </a:lnSpc>
            </a:pPr>
            <a:r>
              <a:rPr spc="-10" dirty="0"/>
              <a:t>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5310" y="1417216"/>
            <a:ext cx="8658225" cy="12299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880"/>
              </a:spcBef>
            </a:pPr>
            <a:r>
              <a:rPr sz="2400" b="1" dirty="0">
                <a:latin typeface="Times New Roman"/>
                <a:cs typeface="Times New Roman"/>
              </a:rPr>
              <a:t>(ANAUTONOMOUS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INSTITUTION)</a:t>
            </a:r>
            <a:endParaRPr sz="2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3000"/>
              </a:lnSpc>
            </a:pPr>
            <a:r>
              <a:rPr sz="1850" spc="-30" dirty="0">
                <a:latin typeface="Times New Roman"/>
                <a:cs typeface="Times New Roman"/>
              </a:rPr>
              <a:t>DEPARTMENT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SCIENCE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ENGINEERING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(CYBER</a:t>
            </a:r>
            <a:r>
              <a:rPr sz="1850" spc="-10" dirty="0">
                <a:latin typeface="Times New Roman"/>
                <a:cs typeface="Times New Roman"/>
              </a:rPr>
              <a:t> SECURITY) </a:t>
            </a:r>
            <a:r>
              <a:rPr sz="1850" dirty="0">
                <a:latin typeface="Times New Roman"/>
                <a:cs typeface="Times New Roman"/>
              </a:rPr>
              <a:t>MINI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PROJECT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9088" y="466344"/>
            <a:ext cx="1505711" cy="10850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7982" y="4297756"/>
            <a:ext cx="174752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GUIDED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64135">
              <a:lnSpc>
                <a:spcPts val="2115"/>
              </a:lnSpc>
            </a:pPr>
            <a:r>
              <a:rPr sz="1800" spc="-50" dirty="0">
                <a:latin typeface="Times New Roman"/>
                <a:cs typeface="Times New Roman"/>
              </a:rPr>
              <a:t>Ms.N.SRITHEJAS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1867" y="3004566"/>
            <a:ext cx="8166734" cy="166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95"/>
              </a:spcBef>
            </a:pPr>
            <a:r>
              <a:rPr sz="1850" dirty="0">
                <a:latin typeface="Times New Roman"/>
                <a:cs typeface="Times New Roman"/>
              </a:rPr>
              <a:t>TITLE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:</a:t>
            </a:r>
            <a:r>
              <a:rPr sz="1850" spc="3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Zero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Trust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DevSecOps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Framework for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Secure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Cloud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Deployment</a:t>
            </a:r>
            <a:endParaRPr sz="1800">
              <a:latin typeface="Times New Roman"/>
              <a:cs typeface="Times New Roman"/>
            </a:endParaRPr>
          </a:p>
          <a:p>
            <a:pPr marL="2423795">
              <a:lnSpc>
                <a:spcPts val="2215"/>
              </a:lnSpc>
            </a:pPr>
            <a:r>
              <a:rPr sz="1850" dirty="0">
                <a:latin typeface="Times New Roman"/>
                <a:cs typeface="Times New Roman"/>
              </a:rPr>
              <a:t>DOMAIN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: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DEVSECOPS</a:t>
            </a:r>
            <a:endParaRPr sz="185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1015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505"/>
              </a:spcBef>
            </a:pPr>
            <a:r>
              <a:rPr sz="1800" spc="-40" dirty="0">
                <a:latin typeface="Times New Roman"/>
                <a:cs typeface="Times New Roman"/>
              </a:rPr>
              <a:t>TEAM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NUMBER: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505"/>
              </a:spcBef>
            </a:pPr>
            <a:r>
              <a:rPr sz="1800" spc="-40" dirty="0">
                <a:latin typeface="Times New Roman"/>
                <a:cs typeface="Times New Roman"/>
              </a:rPr>
              <a:t>ANISHA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(714023149007)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798" y="4837633"/>
            <a:ext cx="25717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ASSISTANT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Times New Roman"/>
                <a:cs typeface="Times New Roman"/>
              </a:rPr>
              <a:t>CSE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(CYBERSECURITY)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78851" y="4616196"/>
            <a:ext cx="3106420" cy="16998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800" spc="-40" dirty="0">
                <a:latin typeface="Times New Roman"/>
                <a:cs typeface="Times New Roman"/>
              </a:rPr>
              <a:t>INDUJA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(714023149031)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800" spc="-45" dirty="0">
                <a:latin typeface="Times New Roman"/>
                <a:cs typeface="Times New Roman"/>
              </a:rPr>
              <a:t>KANISHKA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(714023149036)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1700"/>
              </a:lnSpc>
              <a:spcBef>
                <a:spcPts val="10"/>
              </a:spcBef>
            </a:pPr>
            <a:r>
              <a:rPr sz="1800" spc="-45" dirty="0">
                <a:latin typeface="Times New Roman"/>
                <a:cs typeface="Times New Roman"/>
              </a:rPr>
              <a:t>KEERTHANA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(714023149041) </a:t>
            </a:r>
            <a:r>
              <a:rPr sz="1800" spc="-50" dirty="0">
                <a:latin typeface="Times New Roman"/>
                <a:cs typeface="Times New Roman"/>
              </a:rPr>
              <a:t>LOHITH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(714023149050) </a:t>
            </a:r>
            <a:r>
              <a:rPr sz="1800" spc="-35" dirty="0">
                <a:latin typeface="Times New Roman"/>
                <a:cs typeface="Times New Roman"/>
              </a:rPr>
              <a:t>B.E-</a:t>
            </a:r>
            <a:r>
              <a:rPr sz="1800" spc="-10" dirty="0">
                <a:latin typeface="Times New Roman"/>
                <a:cs typeface="Times New Roman"/>
              </a:rPr>
              <a:t>CSE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(CYBERSECURITY)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6382511"/>
            <a:ext cx="12192000" cy="475615"/>
            <a:chOff x="0" y="6382511"/>
            <a:chExt cx="12192000" cy="4756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82511"/>
              <a:ext cx="429768" cy="4754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6419087"/>
              <a:ext cx="12192000" cy="439420"/>
            </a:xfrm>
            <a:custGeom>
              <a:avLst/>
              <a:gdLst/>
              <a:ahLst/>
              <a:cxnLst/>
              <a:rect l="l" t="t" r="r" b="b"/>
              <a:pathLst>
                <a:path w="12192000" h="439420">
                  <a:moveTo>
                    <a:pt x="12192000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12192000" y="4389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67155" y="6420103"/>
            <a:ext cx="9431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A9D12"/>
                </a:solidFill>
                <a:latin typeface="Times New Roman"/>
                <a:cs typeface="Times New Roman"/>
              </a:rPr>
              <a:t>SRI</a:t>
            </a:r>
            <a:r>
              <a:rPr sz="2400" b="1" spc="-16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A9D12"/>
                </a:solidFill>
                <a:latin typeface="Times New Roman"/>
                <a:cs typeface="Times New Roman"/>
              </a:rPr>
              <a:t>SHAKTHI</a:t>
            </a:r>
            <a:r>
              <a:rPr sz="2400" b="1" spc="-22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A9D12"/>
                </a:solidFill>
                <a:latin typeface="Times New Roman"/>
                <a:cs typeface="Times New Roman"/>
              </a:rPr>
              <a:t>INSTITUTE</a:t>
            </a:r>
            <a:r>
              <a:rPr sz="2400" b="1" spc="5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A9D12"/>
                </a:solidFill>
                <a:latin typeface="Times New Roman"/>
                <a:cs typeface="Times New Roman"/>
              </a:rPr>
              <a:t>OF</a:t>
            </a:r>
            <a:r>
              <a:rPr sz="2400" b="1" spc="-26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40" dirty="0">
                <a:solidFill>
                  <a:srgbClr val="2A9D12"/>
                </a:solidFill>
                <a:latin typeface="Times New Roman"/>
                <a:cs typeface="Times New Roman"/>
              </a:rPr>
              <a:t>ENGINEERING</a:t>
            </a:r>
            <a:r>
              <a:rPr sz="2400" b="1" spc="-12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45" dirty="0">
                <a:solidFill>
                  <a:srgbClr val="2A9D12"/>
                </a:solidFill>
                <a:latin typeface="Times New Roman"/>
                <a:cs typeface="Times New Roman"/>
              </a:rPr>
              <a:t>AND</a:t>
            </a:r>
            <a:r>
              <a:rPr sz="2400" b="1" spc="-9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A9D12"/>
                </a:solidFill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1685" y="2511932"/>
            <a:ext cx="808863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45134" marR="5080" indent="-433070">
              <a:lnSpc>
                <a:spcPts val="3460"/>
              </a:lnSpc>
              <a:spcBef>
                <a:spcPts val="535"/>
              </a:spcBef>
            </a:pPr>
            <a:r>
              <a:rPr sz="3200" dirty="0"/>
              <a:t>ZERO</a:t>
            </a:r>
            <a:r>
              <a:rPr sz="3200" spc="-90" dirty="0"/>
              <a:t> </a:t>
            </a:r>
            <a:r>
              <a:rPr sz="3200" dirty="0"/>
              <a:t>TRUST</a:t>
            </a:r>
            <a:r>
              <a:rPr sz="3200" spc="-75" dirty="0"/>
              <a:t> </a:t>
            </a:r>
            <a:r>
              <a:rPr sz="3200" dirty="0"/>
              <a:t>DEVSECOPS</a:t>
            </a:r>
            <a:r>
              <a:rPr sz="3200" spc="-45" dirty="0"/>
              <a:t> </a:t>
            </a:r>
            <a:r>
              <a:rPr sz="3200" spc="-10" dirty="0"/>
              <a:t>FRAMEWORK </a:t>
            </a:r>
            <a:r>
              <a:rPr sz="3200" dirty="0"/>
              <a:t>FOR</a:t>
            </a:r>
            <a:r>
              <a:rPr sz="3200" spc="-30" dirty="0"/>
              <a:t> </a:t>
            </a:r>
            <a:r>
              <a:rPr sz="3200" dirty="0"/>
              <a:t>SECURE</a:t>
            </a:r>
            <a:r>
              <a:rPr sz="3200" spc="-15" dirty="0"/>
              <a:t> </a:t>
            </a:r>
            <a:r>
              <a:rPr sz="3200" dirty="0"/>
              <a:t>CLOUD</a:t>
            </a:r>
            <a:r>
              <a:rPr sz="3200" spc="-25" dirty="0"/>
              <a:t> </a:t>
            </a:r>
            <a:r>
              <a:rPr sz="3200" spc="-10" dirty="0"/>
              <a:t>DEPLOYMENT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60" dirty="0"/>
              <a:t> </a:t>
            </a:r>
            <a:r>
              <a:rPr spc="-4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4401"/>
            <a:ext cx="10273665" cy="2780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8760" marR="5080" indent="-22669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CI/CD pipelines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temporary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expiry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hour), 	</a:t>
            </a:r>
            <a:r>
              <a:rPr sz="2000" dirty="0">
                <a:latin typeface="Times New Roman"/>
                <a:cs typeface="Times New Roman"/>
              </a:rPr>
              <a:t>regardless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—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unnecessary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exposure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leaks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identity,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secure.</a:t>
            </a:r>
            <a:endParaRPr sz="2000" dirty="0">
              <a:latin typeface="Times New Roman"/>
              <a:cs typeface="Times New Roman"/>
            </a:endParaRPr>
          </a:p>
          <a:p>
            <a:pPr marL="238760" marR="365125" indent="-22669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leaked/stolen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reused,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 	</a:t>
            </a:r>
            <a:r>
              <a:rPr sz="2000" dirty="0">
                <a:latin typeface="Times New Roman"/>
                <a:cs typeface="Times New Roman"/>
              </a:rPr>
              <a:t>teams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visibility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after</a:t>
            </a:r>
            <a:endParaRPr sz="2000" dirty="0">
              <a:latin typeface="Times New Roman"/>
              <a:cs typeface="Times New Roman"/>
            </a:endParaRPr>
          </a:p>
          <a:p>
            <a:pPr marL="238760" marR="192405" indent="-226695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problem: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unified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completion-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revocation, 	vulnerability-</a:t>
            </a:r>
            <a:r>
              <a:rPr sz="2000" dirty="0">
                <a:latin typeface="Times New Roman"/>
                <a:cs typeface="Times New Roman"/>
              </a:rPr>
              <a:t>aware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deception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against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misuse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CI/CD 	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framework.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401"/>
            <a:ext cx="10359390" cy="26523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8760" marR="441959" indent="-22669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CI/CD pipelines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static,</a:t>
            </a:r>
            <a:r>
              <a:rPr sz="2000" spc="-10" dirty="0">
                <a:latin typeface="Times New Roman"/>
                <a:cs typeface="Times New Roman"/>
              </a:rPr>
              <a:t> time-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cloud 	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leaves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dangerous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"leftover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window"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	</a:t>
            </a:r>
            <a:r>
              <a:rPr sz="2000" dirty="0">
                <a:latin typeface="Times New Roman"/>
                <a:cs typeface="Times New Roman"/>
              </a:rPr>
              <a:t>complete.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Zero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DevSecOps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framework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stages 	temporary,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least-privilege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 </a:t>
            </a:r>
            <a:r>
              <a:rPr sz="2000" dirty="0">
                <a:latin typeface="Times New Roman"/>
                <a:cs typeface="Times New Roman"/>
              </a:rPr>
              <a:t>credentials,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vulnerability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(VAPT) 	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revoked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instantly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timer.</a:t>
            </a:r>
            <a:endParaRPr sz="2000" dirty="0">
              <a:latin typeface="Times New Roman"/>
              <a:cs typeface="Times New Roman"/>
            </a:endParaRPr>
          </a:p>
          <a:p>
            <a:pPr marL="238760" marR="5080" indent="-22669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Misuse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stolen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expired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honeytoken-</a:t>
            </a:r>
            <a:r>
              <a:rPr sz="2000" spc="-10" dirty="0">
                <a:latin typeface="Times New Roman"/>
                <a:cs typeface="Times New Roman"/>
              </a:rPr>
              <a:t>based 	</a:t>
            </a:r>
            <a:r>
              <a:rPr sz="2000" dirty="0">
                <a:latin typeface="Times New Roman"/>
                <a:cs typeface="Times New Roman"/>
              </a:rPr>
              <a:t>deception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behavior.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Jenkins, 	</a:t>
            </a:r>
            <a:r>
              <a:rPr sz="2000" spc="-25" dirty="0">
                <a:latin typeface="Times New Roman"/>
                <a:cs typeface="Times New Roman"/>
              </a:rPr>
              <a:t>Terraform,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IAM/STS/CloudTrail,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OpenVAS,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Prometheus/Grafana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working, 	</a:t>
            </a:r>
            <a:r>
              <a:rPr sz="2000" dirty="0">
                <a:latin typeface="Times New Roman"/>
                <a:cs typeface="Times New Roman"/>
              </a:rPr>
              <a:t>measurable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exposure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 compared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conventional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static-TTL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approaches.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0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Define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per-</a:t>
            </a:r>
            <a:r>
              <a:rPr dirty="0">
                <a:latin typeface="Times New Roman"/>
                <a:cs typeface="Times New Roman"/>
              </a:rPr>
              <a:t>stage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requirements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Times New Roman"/>
                <a:cs typeface="Times New Roman"/>
              </a:rPr>
              <a:t>YAML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intent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manifests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Provision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scoped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IAM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roles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infrastructure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via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Terraform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Integrate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automated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Times New Roman"/>
                <a:cs typeface="Times New Roman"/>
              </a:rPr>
              <a:t>VAPT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scanning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(OpenVAS/Nikto)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pre-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gate</a:t>
            </a:r>
          </a:p>
          <a:p>
            <a:pPr marL="241300" indent="-228600">
              <a:lnSpc>
                <a:spcPts val="1835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Build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Python-based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engine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(boto3)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issues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temporary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matching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the</a:t>
            </a:r>
          </a:p>
          <a:p>
            <a:pPr marL="241300">
              <a:lnSpc>
                <a:spcPts val="1835"/>
              </a:lnSpc>
            </a:pPr>
            <a:r>
              <a:rPr spc="-10" dirty="0">
                <a:latin typeface="Times New Roman"/>
                <a:cs typeface="Times New Roman"/>
              </a:rPr>
              <a:t>manifest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Monitor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real-time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API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activity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via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CloudTrail,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comparing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actions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against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declared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manifest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1.Zero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Trust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Core</a:t>
            </a: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spc="-45" dirty="0">
                <a:latin typeface="Times New Roman"/>
                <a:cs typeface="Times New Roman"/>
              </a:rPr>
              <a:t>2.VAPT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Gate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3.Deception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Layer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Trigger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immediate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revocation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task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completion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scope</a:t>
            </a:r>
            <a:r>
              <a:rPr spc="-10" dirty="0">
                <a:latin typeface="Times New Roman"/>
                <a:cs typeface="Times New Roman"/>
              </a:rPr>
              <a:t> violation</a:t>
            </a: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Implement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honeytoken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layer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(AWS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Lambda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EventBridge)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intercept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log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misuse</a:t>
            </a:r>
            <a:r>
              <a:rPr spc="-10" dirty="0">
                <a:latin typeface="Times New Roman"/>
                <a:cs typeface="Times New Roman"/>
              </a:rPr>
              <a:t> attempts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latin typeface="Times New Roman"/>
                <a:cs typeface="Times New Roman"/>
              </a:rPr>
              <a:t>Visualize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lifecycle,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scan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results,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security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events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via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Prometheus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Grafana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Benchmark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exposure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window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(time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remain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valid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post-</a:t>
            </a:r>
            <a:r>
              <a:rPr dirty="0">
                <a:latin typeface="Times New Roman"/>
                <a:cs typeface="Times New Roman"/>
              </a:rPr>
              <a:t>task)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against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static-TTL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baseline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E75429-FB9F-1D57-3733-302534C5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A53CDF5-A117-8432-5CF3-C1B6EB503F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IMPLEMENTATION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D4212E-8B4C-6BC2-E15B-A611EBA52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481734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lvl="0"/>
            <a:r>
              <a:rPr lang="en-IN" b="1" dirty="0"/>
              <a:t>Define access requirements</a:t>
            </a:r>
            <a:r>
              <a:rPr lang="en-IN" dirty="0"/>
              <a:t> using a YAML intent manifest. </a:t>
            </a:r>
          </a:p>
          <a:p>
            <a:pPr lvl="0"/>
            <a:r>
              <a:rPr lang="en-IN" b="1" dirty="0"/>
              <a:t>Provision AWS infrastructure</a:t>
            </a:r>
            <a:r>
              <a:rPr lang="en-IN" dirty="0"/>
              <a:t> using Terraform. </a:t>
            </a:r>
          </a:p>
          <a:p>
            <a:pPr lvl="0"/>
            <a:r>
              <a:rPr lang="en-IN" b="1" dirty="0"/>
              <a:t>Create least-privilege IAM roles and policies</a:t>
            </a:r>
            <a:r>
              <a:rPr lang="en-IN" dirty="0"/>
              <a:t> for deployment access. </a:t>
            </a:r>
          </a:p>
          <a:p>
            <a:pPr lvl="0"/>
            <a:r>
              <a:rPr lang="en-IN" b="1" dirty="0"/>
              <a:t>Perform a pre-access VAPT/security check</a:t>
            </a:r>
            <a:r>
              <a:rPr lang="en-IN" dirty="0"/>
              <a:t> using a Python-based scanner. </a:t>
            </a:r>
          </a:p>
          <a:p>
            <a:pPr lvl="0"/>
            <a:r>
              <a:rPr lang="en-IN" b="1" dirty="0"/>
              <a:t>Generate temporary AWS credentials</a:t>
            </a:r>
            <a:r>
              <a:rPr lang="en-IN" dirty="0"/>
              <a:t> using AWS STS through Boto3. </a:t>
            </a:r>
          </a:p>
          <a:p>
            <a:pPr lvl="0"/>
            <a:r>
              <a:rPr lang="en-IN" b="1" dirty="0"/>
              <a:t>Restrict deployment access</a:t>
            </a:r>
            <a:r>
              <a:rPr lang="en-IN" dirty="0"/>
              <a:t> to the permissions declared in the YAML manifest. </a:t>
            </a:r>
          </a:p>
          <a:p>
            <a:pPr lvl="0"/>
            <a:r>
              <a:rPr lang="en-IN" b="1" dirty="0"/>
              <a:t>Test authorized and unauthorized S3 operations</a:t>
            </a:r>
            <a:r>
              <a:rPr lang="en-IN" dirty="0"/>
              <a:t> to verify least privilege. </a:t>
            </a:r>
          </a:p>
          <a:p>
            <a:pPr lvl="0"/>
            <a:r>
              <a:rPr lang="en-IN" b="1" dirty="0"/>
              <a:t>Enable AWS CloudTrail</a:t>
            </a:r>
            <a:r>
              <a:rPr lang="en-IN" dirty="0"/>
              <a:t> to record AWS API activity. </a:t>
            </a:r>
          </a:p>
          <a:p>
            <a:pPr lvl="0"/>
            <a:r>
              <a:rPr lang="en-IN" b="1" dirty="0"/>
              <a:t>Monitor cloud activity</a:t>
            </a:r>
            <a:r>
              <a:rPr lang="en-IN" dirty="0"/>
              <a:t> against the declared access scope. </a:t>
            </a:r>
          </a:p>
          <a:p>
            <a:pPr lvl="0"/>
            <a:r>
              <a:rPr lang="en-IN" b="1" dirty="0"/>
              <a:t>Trigger access revocation</a:t>
            </a:r>
            <a:r>
              <a:rPr lang="en-IN" dirty="0"/>
              <a:t> after the deployment task is completed. </a:t>
            </a:r>
          </a:p>
          <a:p>
            <a:pPr lvl="0"/>
            <a:r>
              <a:rPr lang="en-IN" b="1" dirty="0"/>
              <a:t>Apply an explicit-deny IAM policy</a:t>
            </a:r>
            <a:r>
              <a:rPr lang="en-IN" dirty="0"/>
              <a:t> to block the deployment role's S3 access. </a:t>
            </a:r>
          </a:p>
          <a:p>
            <a:pPr lvl="0"/>
            <a:r>
              <a:rPr lang="en-IN" b="1" dirty="0"/>
              <a:t>Implement a honeytoken prototype</a:t>
            </a:r>
            <a:r>
              <a:rPr lang="en-IN" dirty="0"/>
              <a:t> to record simulated credential misuse. </a:t>
            </a:r>
          </a:p>
          <a:p>
            <a:pPr lvl="0"/>
            <a:r>
              <a:rPr lang="en-IN" b="1" dirty="0"/>
              <a:t>Store access and honeytoken events</a:t>
            </a:r>
            <a:r>
              <a:rPr lang="en-IN" dirty="0"/>
              <a:t> in local JSON files. </a:t>
            </a:r>
          </a:p>
          <a:p>
            <a:pPr lvl="0"/>
            <a:r>
              <a:rPr lang="en-IN" b="1" dirty="0"/>
              <a:t>Develop a </a:t>
            </a:r>
            <a:r>
              <a:rPr lang="en-IN" b="1" dirty="0" err="1"/>
              <a:t>Streamlit</a:t>
            </a:r>
            <a:r>
              <a:rPr lang="en-IN" b="1" dirty="0"/>
              <a:t> dashboard</a:t>
            </a:r>
            <a:r>
              <a:rPr lang="en-IN" dirty="0"/>
              <a:t> to visualize access, VAPT, CloudTrail, revocation, and honeytoken status. </a:t>
            </a:r>
          </a:p>
          <a:p>
            <a:pPr lvl="0"/>
            <a:r>
              <a:rPr lang="en-IN" b="1" dirty="0"/>
              <a:t>Validate the complete workflow</a:t>
            </a:r>
            <a:r>
              <a:rPr lang="en-IN" dirty="0"/>
              <a:t> through an end-to-end AWS demonstration.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41300" algn="l"/>
              </a:tabLst>
            </a:pPr>
            <a:endParaRPr spc="-10" dirty="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B9713ED-17AE-A272-2133-98768AADDC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6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7CAD64-7F6B-3AAB-2DDA-9043EC28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B17A30-E6ED-DD36-08AD-30D1B1A9D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WORKFLOW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2A7780-1ADA-2043-9C18-0B5307DF3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33406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1300" algn="l"/>
              </a:tabLst>
            </a:pPr>
            <a:endParaRPr spc="-10" dirty="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B3CEBF0-754E-6B9E-7B14-9A4F56375D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0E0A15-C68A-CDA7-CCDC-2C5312F5C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03554"/>
            <a:ext cx="10457586" cy="562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5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CF415B-E0D3-8DB0-DE4D-530156F6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340A8A1-8CCD-0652-2556-1500ED2D1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KEY FEATURE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C4EB0A-F27C-4BEC-E7F1-C85FDED38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66236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41300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41300" algn="l"/>
              </a:tabLst>
            </a:pPr>
            <a:endParaRPr lang="en-IN" spc="-10" dirty="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02AA93E-788A-B1E9-4426-ED863185FC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52C8B-D0E4-2571-8AEA-1035F7D10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11582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2AFE0E-6B98-BD4E-787D-92A9809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FC2620F-BC86-B4BB-7F37-9C38DC905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KEY FEATURE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3CD83D-0C3E-19E3-7D51-0F4B7199B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66236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41300" algn="l"/>
              </a:tabLst>
            </a:pPr>
            <a:endParaRPr lang="en-US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41300" algn="l"/>
              </a:tabLst>
            </a:pPr>
            <a:endParaRPr lang="en-IN" spc="-10" dirty="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4538B4-E27D-CA15-3B5F-7C4990B348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C3DE2-B746-C6C5-2F87-96D425D0F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3" y="182877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8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913" y="613409"/>
            <a:ext cx="199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 </a:t>
            </a:r>
            <a:r>
              <a:rPr spc="-30" dirty="0"/>
              <a:t>STACK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979" y="1356855"/>
            <a:ext cx="8465566" cy="466344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49804" y="1350517"/>
          <a:ext cx="8465184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R="5384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350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635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CI/CD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Pipeline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1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Jenkins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Platform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(Free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Tier)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Terraform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Temporary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Credentials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STS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Policy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Activity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Logging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CloudTrail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VAPT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Scanning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OpenVAS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Nikto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Python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(boto3)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Deception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AWS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Lambda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EventBridge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Monitoring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Prometheus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Grafana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Attack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Simulation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Kali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linux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VM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Manifest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Format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YAML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EXISTING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408701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Zero Trust Architecture for secure communication.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Focuses mainly on microservices communication.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OIDC and OAuth 2.0 for user authentication and authorization.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SPIFFE/SPIRE to provide secure identities to services.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Istio Service Mesh to enforce secure communication and </a:t>
            </a:r>
            <a:r>
              <a:rPr lang="en-US" spc="-10" dirty="0" err="1"/>
              <a:t>mTLS</a:t>
            </a:r>
            <a:r>
              <a:rPr lang="en-US" spc="-10" dirty="0"/>
              <a:t>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Open Policy Agent (OPA) for centralized policy-based authorization.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short-lived security tokens to reduce long-term credential exposure.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Monitors service communication and security activities through telemetry and audit logs.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</a:t>
            </a:r>
            <a:r>
              <a:rPr lang="en-US" spc="-10" dirty="0" err="1"/>
              <a:t>GitOps</a:t>
            </a:r>
            <a:r>
              <a:rPr lang="en-US" spc="-10" dirty="0"/>
              <a:t> for managing security policies.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Evaluates security using metrics such as token replay, unauthorized access, latency, and throughput.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Mainly addresses service-to-service and user-to-service access in microservices environments.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Does not explicitly include a pre-access VAPT gate or honeytoken-based deception layer.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11782"/>
            <a:ext cx="10327640" cy="113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Establishing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Workload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Identity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Zero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Trust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CI/CD: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Secrets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SPIFFE-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Authentication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 MT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Zero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Microservices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Federation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22C95-CA36-E15A-D120-852A67293504}"/>
              </a:ext>
            </a:extLst>
          </p:cNvPr>
          <p:cNvSpPr txBox="1"/>
          <p:nvPr/>
        </p:nvSpPr>
        <p:spPr>
          <a:xfrm>
            <a:off x="938275" y="989338"/>
            <a:ext cx="47980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894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Times New Roman</vt:lpstr>
      <vt:lpstr>Office Theme</vt:lpstr>
      <vt:lpstr>SRI SHAKTHI INSTITUTE OF ENGINEERING AND TECHNOLOGY</vt:lpstr>
      <vt:lpstr>ZERO TRUST DEVSECOPS FRAMEWORK FOR SECURE CLOUD DEPLOYMENT</vt:lpstr>
      <vt:lpstr>PROBLEM STATEMENT</vt:lpstr>
      <vt:lpstr>ABSTRACT</vt:lpstr>
      <vt:lpstr>PROPOSED METHODOLOGY</vt:lpstr>
      <vt:lpstr>IMPLEMENTATION</vt:lpstr>
      <vt:lpstr>WORKFLOW</vt:lpstr>
      <vt:lpstr>KEY FEATURE</vt:lpstr>
      <vt:lpstr>KEY FEATURE</vt:lpstr>
      <vt:lpstr>TECH STACK</vt:lpstr>
      <vt:lpstr>EXISTING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Anisha S</dc:creator>
  <cp:lastModifiedBy>ANISHA S</cp:lastModifiedBy>
  <cp:revision>8</cp:revision>
  <dcterms:created xsi:type="dcterms:W3CDTF">2026-09-26T03:04:59Z</dcterms:created>
  <dcterms:modified xsi:type="dcterms:W3CDTF">2026-09-26T06:52:47Z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LastSaved">
    <vt:filetime>2026-09-26T00:00:00Z</vt:filetime>
  </property>
  <property fmtid="{D5CDD505-2E9C-101B-9397-08002B2CF9AE}" pid="5" name="Producer">
    <vt:lpwstr>iLovePDF</vt:lpwstr>
  </property>
</Properties>
</file>
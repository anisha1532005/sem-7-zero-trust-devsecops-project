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1913" y="397586"/>
            <a:ext cx="10628172" cy="7971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449069"/>
            <a:ext cx="9536430" cy="4044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8744" y="466344"/>
            <a:ext cx="1039368" cy="1085088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685" algn="ctr">
              <a:lnSpc>
                <a:spcPts val="2795"/>
              </a:lnSpc>
              <a:spcBef>
                <a:spcPts val="100"/>
              </a:spcBef>
            </a:pPr>
            <a:r>
              <a:rPr spc="-40" dirty="0"/>
              <a:t>SRI</a:t>
            </a:r>
            <a:r>
              <a:rPr spc="-165" dirty="0"/>
              <a:t> </a:t>
            </a:r>
            <a:r>
              <a:rPr spc="-10" dirty="0"/>
              <a:t>SHAKTHI</a:t>
            </a:r>
            <a:r>
              <a:rPr spc="-210" dirty="0"/>
              <a:t> </a:t>
            </a:r>
            <a:r>
              <a:rPr dirty="0"/>
              <a:t>INSTITUTE</a:t>
            </a:r>
            <a:r>
              <a:rPr spc="-20" dirty="0"/>
              <a:t> </a:t>
            </a:r>
            <a:r>
              <a:rPr dirty="0"/>
              <a:t>OF</a:t>
            </a:r>
            <a:r>
              <a:rPr spc="-265" dirty="0"/>
              <a:t> </a:t>
            </a:r>
            <a:r>
              <a:rPr spc="-35" dirty="0"/>
              <a:t>ENGINEERING</a:t>
            </a:r>
            <a:r>
              <a:rPr spc="-65" dirty="0"/>
              <a:t> </a:t>
            </a:r>
            <a:r>
              <a:rPr spc="-25" dirty="0"/>
              <a:t>AND</a:t>
            </a:r>
          </a:p>
          <a:p>
            <a:pPr marL="327025" algn="ctr">
              <a:lnSpc>
                <a:spcPts val="2795"/>
              </a:lnSpc>
            </a:pPr>
            <a:r>
              <a:rPr spc="-10" dirty="0"/>
              <a:t>TECHNOLOGY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845310" y="1417216"/>
            <a:ext cx="8658225" cy="122999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880"/>
              </a:spcBef>
            </a:pPr>
            <a:r>
              <a:rPr sz="2400" b="1" dirty="0">
                <a:latin typeface="Times New Roman"/>
                <a:cs typeface="Times New Roman"/>
              </a:rPr>
              <a:t>(ANAUTONOMOUS</a:t>
            </a:r>
            <a:r>
              <a:rPr sz="2400" b="1" spc="-1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INSTITUTION)</a:t>
            </a:r>
            <a:endParaRPr sz="2400" dirty="0">
              <a:latin typeface="Times New Roman"/>
              <a:cs typeface="Times New Roman"/>
            </a:endParaRPr>
          </a:p>
          <a:p>
            <a:pPr marL="12065" marR="5080" algn="ctr">
              <a:lnSpc>
                <a:spcPts val="3000"/>
              </a:lnSpc>
            </a:pPr>
            <a:r>
              <a:rPr sz="1850" spc="-30" dirty="0">
                <a:latin typeface="Times New Roman"/>
                <a:cs typeface="Times New Roman"/>
              </a:rPr>
              <a:t>DEPARTMENT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COMPUTER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SCIENCE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ENGINEERING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(CYBER</a:t>
            </a:r>
            <a:r>
              <a:rPr sz="1850" spc="-10" dirty="0">
                <a:latin typeface="Times New Roman"/>
                <a:cs typeface="Times New Roman"/>
              </a:rPr>
              <a:t> SECURITY) </a:t>
            </a:r>
            <a:r>
              <a:rPr sz="1850" dirty="0">
                <a:latin typeface="Times New Roman"/>
                <a:cs typeface="Times New Roman"/>
              </a:rPr>
              <a:t>MINI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PROJECT</a:t>
            </a:r>
            <a:endParaRPr sz="1850" dirty="0">
              <a:latin typeface="Times New Roman"/>
              <a:cs typeface="Times New Roman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29088" y="466344"/>
            <a:ext cx="1505711" cy="108508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17982" y="4297756"/>
            <a:ext cx="1747520" cy="56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15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GUIDED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BY,</a:t>
            </a:r>
            <a:endParaRPr sz="1800">
              <a:latin typeface="Times New Roman"/>
              <a:cs typeface="Times New Roman"/>
            </a:endParaRPr>
          </a:p>
          <a:p>
            <a:pPr marL="64135">
              <a:lnSpc>
                <a:spcPts val="2115"/>
              </a:lnSpc>
            </a:pPr>
            <a:r>
              <a:rPr sz="1800" spc="-50" dirty="0">
                <a:latin typeface="Times New Roman"/>
                <a:cs typeface="Times New Roman"/>
              </a:rPr>
              <a:t>Ms.N.SRITHEJAS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91867" y="3004566"/>
            <a:ext cx="8166734" cy="1668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215"/>
              </a:lnSpc>
              <a:spcBef>
                <a:spcPts val="95"/>
              </a:spcBef>
            </a:pPr>
            <a:r>
              <a:rPr sz="1850" dirty="0">
                <a:latin typeface="Times New Roman"/>
                <a:cs typeface="Times New Roman"/>
              </a:rPr>
              <a:t>TITLE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:</a:t>
            </a:r>
            <a:r>
              <a:rPr sz="1850" spc="3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Zero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Trust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DevSecOps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Framework for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Secure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Cloud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Deployment</a:t>
            </a:r>
            <a:endParaRPr sz="1800">
              <a:latin typeface="Times New Roman"/>
              <a:cs typeface="Times New Roman"/>
            </a:endParaRPr>
          </a:p>
          <a:p>
            <a:pPr marL="2423795">
              <a:lnSpc>
                <a:spcPts val="2215"/>
              </a:lnSpc>
            </a:pPr>
            <a:r>
              <a:rPr sz="1850" dirty="0">
                <a:latin typeface="Times New Roman"/>
                <a:cs typeface="Times New Roman"/>
              </a:rPr>
              <a:t>DOMAIN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: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DEVSECOPS</a:t>
            </a:r>
            <a:endParaRPr sz="1850">
              <a:latin typeface="Times New Roman"/>
              <a:cs typeface="Times New Roman"/>
            </a:endParaRPr>
          </a:p>
          <a:p>
            <a:pPr marL="5599430">
              <a:lnSpc>
                <a:spcPct val="100000"/>
              </a:lnSpc>
              <a:spcBef>
                <a:spcPts val="1015"/>
              </a:spcBef>
            </a:pPr>
            <a:r>
              <a:rPr sz="1800" b="1" dirty="0">
                <a:latin typeface="Times New Roman"/>
                <a:cs typeface="Times New Roman"/>
              </a:rPr>
              <a:t>PRESENTED</a:t>
            </a:r>
            <a:r>
              <a:rPr sz="1800" b="1" spc="17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Times New Roman"/>
                <a:cs typeface="Times New Roman"/>
              </a:rPr>
              <a:t>BY,</a:t>
            </a:r>
            <a:endParaRPr sz="1800">
              <a:latin typeface="Times New Roman"/>
              <a:cs typeface="Times New Roman"/>
            </a:endParaRPr>
          </a:p>
          <a:p>
            <a:pPr marL="5599430">
              <a:lnSpc>
                <a:spcPct val="100000"/>
              </a:lnSpc>
              <a:spcBef>
                <a:spcPts val="505"/>
              </a:spcBef>
            </a:pPr>
            <a:r>
              <a:rPr sz="1800" spc="-40" dirty="0">
                <a:latin typeface="Times New Roman"/>
                <a:cs typeface="Times New Roman"/>
              </a:rPr>
              <a:t>TEAM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NUMBER: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7</a:t>
            </a:r>
            <a:endParaRPr sz="1800">
              <a:latin typeface="Times New Roman"/>
              <a:cs typeface="Times New Roman"/>
            </a:endParaRPr>
          </a:p>
          <a:p>
            <a:pPr marL="5599430">
              <a:lnSpc>
                <a:spcPct val="100000"/>
              </a:lnSpc>
              <a:spcBef>
                <a:spcPts val="505"/>
              </a:spcBef>
            </a:pPr>
            <a:r>
              <a:rPr sz="1800" spc="-40" dirty="0">
                <a:latin typeface="Times New Roman"/>
                <a:cs typeface="Times New Roman"/>
              </a:rPr>
              <a:t>ANISHA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(714023149007)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798" y="4837633"/>
            <a:ext cx="257175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Times New Roman"/>
                <a:cs typeface="Times New Roman"/>
              </a:rPr>
              <a:t>ASSISTANT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PROFESSOR</a:t>
            </a:r>
            <a:endParaRPr sz="18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25"/>
              </a:spcBef>
            </a:pPr>
            <a:r>
              <a:rPr sz="1800" dirty="0">
                <a:latin typeface="Times New Roman"/>
                <a:cs typeface="Times New Roman"/>
              </a:rPr>
              <a:t>CSE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(CYBERSECURITY)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078851" y="4616196"/>
            <a:ext cx="3106420" cy="169989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800" spc="-40" dirty="0">
                <a:latin typeface="Times New Roman"/>
                <a:cs typeface="Times New Roman"/>
              </a:rPr>
              <a:t>INDUJA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(714023149031)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1800" spc="-45" dirty="0">
                <a:latin typeface="Times New Roman"/>
                <a:cs typeface="Times New Roman"/>
              </a:rPr>
              <a:t>KANISHKA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(714023149036)</a:t>
            </a:r>
            <a:endParaRPr sz="1800">
              <a:latin typeface="Times New Roman"/>
              <a:cs typeface="Times New Roman"/>
            </a:endParaRPr>
          </a:p>
          <a:p>
            <a:pPr marL="12700" marR="5080">
              <a:lnSpc>
                <a:spcPct val="121700"/>
              </a:lnSpc>
              <a:spcBef>
                <a:spcPts val="10"/>
              </a:spcBef>
            </a:pPr>
            <a:r>
              <a:rPr sz="1800" spc="-45" dirty="0">
                <a:latin typeface="Times New Roman"/>
                <a:cs typeface="Times New Roman"/>
              </a:rPr>
              <a:t>KEERTHANA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Times New Roman"/>
                <a:cs typeface="Times New Roman"/>
              </a:rPr>
              <a:t>(714023149041) </a:t>
            </a:r>
            <a:r>
              <a:rPr sz="1800" spc="-50" dirty="0">
                <a:latin typeface="Times New Roman"/>
                <a:cs typeface="Times New Roman"/>
              </a:rPr>
              <a:t>LOHITH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(714023149050) </a:t>
            </a:r>
            <a:r>
              <a:rPr sz="1800" spc="-35" dirty="0">
                <a:latin typeface="Times New Roman"/>
                <a:cs typeface="Times New Roman"/>
              </a:rPr>
              <a:t>B.E-</a:t>
            </a:r>
            <a:r>
              <a:rPr sz="1800" spc="-10" dirty="0">
                <a:latin typeface="Times New Roman"/>
                <a:cs typeface="Times New Roman"/>
              </a:rPr>
              <a:t>CSE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(CYBERSECURITY)</a:t>
            </a:r>
            <a:endParaRPr sz="18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6382511"/>
            <a:ext cx="12192000" cy="475615"/>
            <a:chOff x="0" y="6382511"/>
            <a:chExt cx="12192000" cy="47561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382511"/>
              <a:ext cx="429768" cy="475488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0" y="6419087"/>
              <a:ext cx="12192000" cy="439420"/>
            </a:xfrm>
            <a:custGeom>
              <a:avLst/>
              <a:gdLst/>
              <a:ahLst/>
              <a:cxnLst/>
              <a:rect l="l" t="t" r="r" b="b"/>
              <a:pathLst>
                <a:path w="12192000" h="439420">
                  <a:moveTo>
                    <a:pt x="12192000" y="0"/>
                  </a:moveTo>
                  <a:lnTo>
                    <a:pt x="0" y="0"/>
                  </a:lnTo>
                  <a:lnTo>
                    <a:pt x="0" y="438912"/>
                  </a:lnTo>
                  <a:lnTo>
                    <a:pt x="12192000" y="438912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367155" y="6420103"/>
            <a:ext cx="94310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2A9D12"/>
                </a:solidFill>
                <a:latin typeface="Times New Roman"/>
                <a:cs typeface="Times New Roman"/>
              </a:rPr>
              <a:t>SRI</a:t>
            </a:r>
            <a:r>
              <a:rPr sz="2400" b="1" spc="-165" dirty="0">
                <a:solidFill>
                  <a:srgbClr val="2A9D12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A9D12"/>
                </a:solidFill>
                <a:latin typeface="Times New Roman"/>
                <a:cs typeface="Times New Roman"/>
              </a:rPr>
              <a:t>SHAKTHI</a:t>
            </a:r>
            <a:r>
              <a:rPr sz="2400" b="1" spc="-225" dirty="0">
                <a:solidFill>
                  <a:srgbClr val="2A9D12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A9D12"/>
                </a:solidFill>
                <a:latin typeface="Times New Roman"/>
                <a:cs typeface="Times New Roman"/>
              </a:rPr>
              <a:t>INSTITUTE</a:t>
            </a:r>
            <a:r>
              <a:rPr sz="2400" b="1" spc="50" dirty="0">
                <a:solidFill>
                  <a:srgbClr val="2A9D12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2A9D12"/>
                </a:solidFill>
                <a:latin typeface="Times New Roman"/>
                <a:cs typeface="Times New Roman"/>
              </a:rPr>
              <a:t>OF</a:t>
            </a:r>
            <a:r>
              <a:rPr sz="2400" b="1" spc="-260" dirty="0">
                <a:solidFill>
                  <a:srgbClr val="2A9D12"/>
                </a:solidFill>
                <a:latin typeface="Times New Roman"/>
                <a:cs typeface="Times New Roman"/>
              </a:rPr>
              <a:t> </a:t>
            </a:r>
            <a:r>
              <a:rPr sz="2400" b="1" spc="-40" dirty="0">
                <a:solidFill>
                  <a:srgbClr val="2A9D12"/>
                </a:solidFill>
                <a:latin typeface="Times New Roman"/>
                <a:cs typeface="Times New Roman"/>
              </a:rPr>
              <a:t>ENGINEERING</a:t>
            </a:r>
            <a:r>
              <a:rPr sz="2400" b="1" spc="-125" dirty="0">
                <a:solidFill>
                  <a:srgbClr val="2A9D12"/>
                </a:solidFill>
                <a:latin typeface="Times New Roman"/>
                <a:cs typeface="Times New Roman"/>
              </a:rPr>
              <a:t> </a:t>
            </a:r>
            <a:r>
              <a:rPr sz="2400" b="1" spc="-45" dirty="0">
                <a:solidFill>
                  <a:srgbClr val="2A9D12"/>
                </a:solidFill>
                <a:latin typeface="Times New Roman"/>
                <a:cs typeface="Times New Roman"/>
              </a:rPr>
              <a:t>AND</a:t>
            </a:r>
            <a:r>
              <a:rPr sz="2400" b="1" spc="-90" dirty="0">
                <a:solidFill>
                  <a:srgbClr val="2A9D12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2A9D12"/>
                </a:solidFill>
                <a:latin typeface="Times New Roman"/>
                <a:cs typeface="Times New Roman"/>
              </a:rPr>
              <a:t>TECHNOLOGY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51685" y="2511932"/>
            <a:ext cx="8088630" cy="95313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445134" marR="5080" indent="-433070">
              <a:lnSpc>
                <a:spcPts val="3460"/>
              </a:lnSpc>
              <a:spcBef>
                <a:spcPts val="535"/>
              </a:spcBef>
            </a:pPr>
            <a:r>
              <a:rPr sz="3200" dirty="0"/>
              <a:t>ZERO</a:t>
            </a:r>
            <a:r>
              <a:rPr sz="3200" spc="-90" dirty="0"/>
              <a:t> </a:t>
            </a:r>
            <a:r>
              <a:rPr sz="3200" dirty="0"/>
              <a:t>TRUST</a:t>
            </a:r>
            <a:r>
              <a:rPr sz="3200" spc="-75" dirty="0"/>
              <a:t> </a:t>
            </a:r>
            <a:r>
              <a:rPr sz="3200" dirty="0"/>
              <a:t>DEVSECOPS</a:t>
            </a:r>
            <a:r>
              <a:rPr sz="3200" spc="-45" dirty="0"/>
              <a:t> </a:t>
            </a:r>
            <a:r>
              <a:rPr sz="3200" spc="-10" dirty="0"/>
              <a:t>FRAMEWORK </a:t>
            </a:r>
            <a:r>
              <a:rPr sz="3200" dirty="0"/>
              <a:t>FOR</a:t>
            </a:r>
            <a:r>
              <a:rPr sz="3200" spc="-30" dirty="0"/>
              <a:t> </a:t>
            </a:r>
            <a:r>
              <a:rPr sz="3200" dirty="0"/>
              <a:t>SECURE</a:t>
            </a:r>
            <a:r>
              <a:rPr sz="3200" spc="-15" dirty="0"/>
              <a:t> </a:t>
            </a:r>
            <a:r>
              <a:rPr sz="3200" dirty="0"/>
              <a:t>CLOUD</a:t>
            </a:r>
            <a:r>
              <a:rPr sz="3200" spc="-25" dirty="0"/>
              <a:t> </a:t>
            </a:r>
            <a:r>
              <a:rPr sz="3200" spc="-10" dirty="0"/>
              <a:t>DEPLOYMENT</a:t>
            </a:r>
            <a:endParaRPr sz="32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642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00"/>
              </a:spcBef>
            </a:pPr>
            <a:r>
              <a:rPr dirty="0"/>
              <a:t>PROBLEM</a:t>
            </a:r>
            <a:r>
              <a:rPr spc="-60" dirty="0"/>
              <a:t> </a:t>
            </a:r>
            <a:r>
              <a:rPr spc="-4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684401"/>
            <a:ext cx="10273665" cy="278066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38760" marR="5080" indent="-226695">
              <a:lnSpc>
                <a:spcPct val="900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CI/CD pipelines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issued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temporary</a:t>
            </a:r>
            <a:r>
              <a:rPr sz="2000" spc="-13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AWS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credentials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fixed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expiry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(e.g.,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hour), 	</a:t>
            </a:r>
            <a:r>
              <a:rPr sz="2000" dirty="0">
                <a:latin typeface="Times New Roman"/>
                <a:cs typeface="Times New Roman"/>
              </a:rPr>
              <a:t>regardless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actual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task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takes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—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creating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unnecessary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exposure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window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credential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leaks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decisions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made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purely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identity,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without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considering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whether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	</a:t>
            </a:r>
            <a:r>
              <a:rPr sz="2000" dirty="0">
                <a:latin typeface="Times New Roman"/>
                <a:cs typeface="Times New Roman"/>
              </a:rPr>
              <a:t>target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deployment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environment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currently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vulnerable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secure.</a:t>
            </a:r>
            <a:endParaRPr sz="2000" dirty="0">
              <a:latin typeface="Times New Roman"/>
              <a:cs typeface="Times New Roman"/>
            </a:endParaRPr>
          </a:p>
          <a:p>
            <a:pPr marL="238760" marR="365125" indent="-226695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leaked/stolen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credential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reused,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existing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deny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giving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security 	</a:t>
            </a:r>
            <a:r>
              <a:rPr sz="2000" dirty="0">
                <a:latin typeface="Times New Roman"/>
                <a:cs typeface="Times New Roman"/>
              </a:rPr>
              <a:t>teams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visibility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attacker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were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after</a:t>
            </a:r>
            <a:endParaRPr sz="2000" dirty="0">
              <a:latin typeface="Times New Roman"/>
              <a:cs typeface="Times New Roman"/>
            </a:endParaRPr>
          </a:p>
          <a:p>
            <a:pPr marL="238760" marR="192405" indent="-226695">
              <a:lnSpc>
                <a:spcPct val="900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Core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problem: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unified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combines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completion-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credential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revocation, 	vulnerability-</a:t>
            </a:r>
            <a:r>
              <a:rPr sz="2000" dirty="0">
                <a:latin typeface="Times New Roman"/>
                <a:cs typeface="Times New Roman"/>
              </a:rPr>
              <a:t>aware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decisions,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active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deception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against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misuse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single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CI/CD 	</a:t>
            </a:r>
            <a:r>
              <a:rPr sz="2000" dirty="0">
                <a:latin typeface="Times New Roman"/>
                <a:cs typeface="Times New Roman"/>
              </a:rPr>
              <a:t>pipeline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security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framework.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642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19401"/>
            <a:ext cx="10359390" cy="265239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38760" marR="441959" indent="-226695">
              <a:lnSpc>
                <a:spcPct val="900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Modern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CI/CD pipelines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static,</a:t>
            </a:r>
            <a:r>
              <a:rPr sz="2000" spc="-10" dirty="0">
                <a:latin typeface="Times New Roman"/>
                <a:cs typeface="Times New Roman"/>
              </a:rPr>
              <a:t> time-</a:t>
            </a:r>
            <a:r>
              <a:rPr sz="2000" dirty="0">
                <a:latin typeface="Times New Roman"/>
                <a:cs typeface="Times New Roman"/>
              </a:rPr>
              <a:t>based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credentials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deploy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 </a:t>
            </a:r>
            <a:r>
              <a:rPr sz="2000" spc="-10" dirty="0">
                <a:latin typeface="Times New Roman"/>
                <a:cs typeface="Times New Roman"/>
              </a:rPr>
              <a:t>cloud 	</a:t>
            </a:r>
            <a:r>
              <a:rPr sz="2000" dirty="0">
                <a:latin typeface="Times New Roman"/>
                <a:cs typeface="Times New Roman"/>
              </a:rPr>
              <a:t>infrastructure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model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leaves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dangerous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"leftover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access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window"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task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is 	</a:t>
            </a:r>
            <a:r>
              <a:rPr sz="2000" dirty="0">
                <a:latin typeface="Times New Roman"/>
                <a:cs typeface="Times New Roman"/>
              </a:rPr>
              <a:t>complete.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This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project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proposes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Zero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Trust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DevSecOps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framework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grants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pipeline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stages 	temporary,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least-privilege</a:t>
            </a:r>
            <a:r>
              <a:rPr sz="2000" spc="-155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AWS </a:t>
            </a:r>
            <a:r>
              <a:rPr sz="2000" dirty="0">
                <a:latin typeface="Times New Roman"/>
                <a:cs typeface="Times New Roman"/>
              </a:rPr>
              <a:t>credentials,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gated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real-</a:t>
            </a:r>
            <a:r>
              <a:rPr sz="2000" dirty="0">
                <a:latin typeface="Times New Roman"/>
                <a:cs typeface="Times New Roman"/>
              </a:rPr>
              <a:t>time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vulnerability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posture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(VAPT) 	</a:t>
            </a:r>
            <a:r>
              <a:rPr sz="2000" dirty="0">
                <a:latin typeface="Times New Roman"/>
                <a:cs typeface="Times New Roman"/>
              </a:rPr>
              <a:t>checks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revoked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instantly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upon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task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completion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rather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fixed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timer.</a:t>
            </a:r>
            <a:endParaRPr sz="2000" dirty="0">
              <a:latin typeface="Times New Roman"/>
              <a:cs typeface="Times New Roman"/>
            </a:endParaRPr>
          </a:p>
          <a:p>
            <a:pPr marL="238760" marR="5080" indent="-226695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Times New Roman"/>
                <a:cs typeface="Times New Roman"/>
              </a:rPr>
              <a:t>Misuse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stolen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expired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credentials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met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simple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block,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honeytoken-</a:t>
            </a:r>
            <a:r>
              <a:rPr sz="2000" spc="-10" dirty="0">
                <a:latin typeface="Times New Roman"/>
                <a:cs typeface="Times New Roman"/>
              </a:rPr>
              <a:t>based 	</a:t>
            </a:r>
            <a:r>
              <a:rPr sz="2000" dirty="0">
                <a:latin typeface="Times New Roman"/>
                <a:cs typeface="Times New Roman"/>
              </a:rPr>
              <a:t>deception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mechanism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traps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logs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attacker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behavior.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system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integrates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Jenkins, 	</a:t>
            </a:r>
            <a:r>
              <a:rPr sz="2000" spc="-25" dirty="0">
                <a:latin typeface="Times New Roman"/>
                <a:cs typeface="Times New Roman"/>
              </a:rPr>
              <a:t>Terraform,</a:t>
            </a:r>
            <a:r>
              <a:rPr sz="2000" spc="-140" dirty="0">
                <a:latin typeface="Times New Roman"/>
                <a:cs typeface="Times New Roman"/>
              </a:rPr>
              <a:t> </a:t>
            </a:r>
            <a:r>
              <a:rPr sz="2000" spc="-40" dirty="0">
                <a:latin typeface="Times New Roman"/>
                <a:cs typeface="Times New Roman"/>
              </a:rPr>
              <a:t>AWS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IAM/STS/CloudTrail,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OpenVAS,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Prometheus/Grafana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deliver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working, 	</a:t>
            </a:r>
            <a:r>
              <a:rPr sz="2000" dirty="0">
                <a:latin typeface="Times New Roman"/>
                <a:cs typeface="Times New Roman"/>
              </a:rPr>
              <a:t>measurable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reduction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credential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exposure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 compared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conventional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static-TTL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approaches.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642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00"/>
              </a:spcBef>
            </a:pPr>
            <a:r>
              <a:rPr dirty="0"/>
              <a:t>PROPOSED</a:t>
            </a:r>
            <a:r>
              <a:rPr spc="-100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Define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per-</a:t>
            </a:r>
            <a:r>
              <a:rPr dirty="0">
                <a:latin typeface="Times New Roman"/>
                <a:cs typeface="Times New Roman"/>
              </a:rPr>
              <a:t>stage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access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requirements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as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spc="-60" dirty="0">
                <a:latin typeface="Times New Roman"/>
                <a:cs typeface="Times New Roman"/>
              </a:rPr>
              <a:t>YAML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intent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manifests</a:t>
            </a:r>
          </a:p>
          <a:p>
            <a:pPr marL="241300" indent="-22860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Provision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scoped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35" dirty="0">
                <a:latin typeface="Times New Roman"/>
                <a:cs typeface="Times New Roman"/>
              </a:rPr>
              <a:t>AWS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IAM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roles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infrastructure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via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Terraform</a:t>
            </a:r>
          </a:p>
          <a:p>
            <a:pPr marL="241300" indent="-22860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Integrate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automated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60" dirty="0">
                <a:latin typeface="Times New Roman"/>
                <a:cs typeface="Times New Roman"/>
              </a:rPr>
              <a:t>VAPT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scanning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(OpenVAS/Nikto)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as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pre-</a:t>
            </a:r>
            <a:r>
              <a:rPr dirty="0">
                <a:latin typeface="Times New Roman"/>
                <a:cs typeface="Times New Roman"/>
              </a:rPr>
              <a:t>access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gate</a:t>
            </a:r>
          </a:p>
          <a:p>
            <a:pPr marL="241300" indent="-228600">
              <a:lnSpc>
                <a:spcPts val="1835"/>
              </a:lnSpc>
              <a:spcBef>
                <a:spcPts val="359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Build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Python-based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access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engine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(boto3)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that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issues</a:t>
            </a:r>
            <a:r>
              <a:rPr spc="-100" dirty="0">
                <a:latin typeface="Times New Roman"/>
                <a:cs typeface="Times New Roman"/>
              </a:rPr>
              <a:t> </a:t>
            </a:r>
            <a:r>
              <a:rPr spc="-35" dirty="0">
                <a:latin typeface="Times New Roman"/>
                <a:cs typeface="Times New Roman"/>
              </a:rPr>
              <a:t>AWS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STS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temporary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credentials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matching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25" dirty="0">
                <a:latin typeface="Times New Roman"/>
                <a:cs typeface="Times New Roman"/>
              </a:rPr>
              <a:t>the</a:t>
            </a:r>
          </a:p>
          <a:p>
            <a:pPr marL="241300">
              <a:lnSpc>
                <a:spcPts val="1835"/>
              </a:lnSpc>
            </a:pPr>
            <a:r>
              <a:rPr spc="-10" dirty="0">
                <a:latin typeface="Times New Roman"/>
                <a:cs typeface="Times New Roman"/>
              </a:rPr>
              <a:t>manifest</a:t>
            </a:r>
          </a:p>
          <a:p>
            <a:pPr marL="241300" indent="-22860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Monitor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real-time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API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activity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via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35" dirty="0">
                <a:latin typeface="Times New Roman"/>
                <a:cs typeface="Times New Roman"/>
              </a:rPr>
              <a:t>AWS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CloudTrail,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comparing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actions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against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the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declared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manifest</a:t>
            </a: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1.Zero</a:t>
            </a:r>
            <a:r>
              <a:rPr spc="-9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Trust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Core</a:t>
            </a: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1300" algn="l"/>
              </a:tabLst>
            </a:pPr>
            <a:r>
              <a:rPr spc="-45" dirty="0">
                <a:latin typeface="Times New Roman"/>
                <a:cs typeface="Times New Roman"/>
              </a:rPr>
              <a:t>2.VAPT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Gate</a:t>
            </a:r>
          </a:p>
          <a:p>
            <a:pPr marL="241300" indent="-22860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3.Deception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spc="-20" dirty="0">
                <a:latin typeface="Times New Roman"/>
                <a:cs typeface="Times New Roman"/>
              </a:rPr>
              <a:t>Layer</a:t>
            </a:r>
          </a:p>
          <a:p>
            <a:pPr marL="241300" indent="-22860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Trigger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immediate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credential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revocation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on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task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completion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or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scope</a:t>
            </a:r>
            <a:r>
              <a:rPr spc="-10" dirty="0">
                <a:latin typeface="Times New Roman"/>
                <a:cs typeface="Times New Roman"/>
              </a:rPr>
              <a:t> violation</a:t>
            </a:r>
          </a:p>
          <a:p>
            <a:pPr marL="241300" indent="-228600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Implement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honeytoken</a:t>
            </a:r>
            <a:r>
              <a:rPr spc="-7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layer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35" dirty="0">
                <a:latin typeface="Times New Roman"/>
                <a:cs typeface="Times New Roman"/>
              </a:rPr>
              <a:t>(AWS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Lambda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+</a:t>
            </a:r>
            <a:r>
              <a:rPr spc="-2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EventBridge)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to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intercept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log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misuse</a:t>
            </a:r>
            <a:r>
              <a:rPr spc="-10" dirty="0">
                <a:latin typeface="Times New Roman"/>
                <a:cs typeface="Times New Roman"/>
              </a:rPr>
              <a:t> attempts</a:t>
            </a:r>
          </a:p>
          <a:p>
            <a:pPr marL="241300" indent="-228600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241300" algn="l"/>
              </a:tabLst>
            </a:pPr>
            <a:r>
              <a:rPr spc="-10" dirty="0">
                <a:latin typeface="Times New Roman"/>
                <a:cs typeface="Times New Roman"/>
              </a:rPr>
              <a:t>Visualize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credential</a:t>
            </a:r>
            <a:r>
              <a:rPr spc="-6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lifecycle,</a:t>
            </a:r>
            <a:r>
              <a:rPr spc="-7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scan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results,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and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security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events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via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Prometheus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+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Grafana</a:t>
            </a:r>
          </a:p>
          <a:p>
            <a:pPr marL="241300" indent="-228600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>
                <a:latin typeface="Times New Roman"/>
                <a:cs typeface="Times New Roman"/>
              </a:rPr>
              <a:t>Benchmark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exposure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window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(time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credentials</a:t>
            </a:r>
            <a:r>
              <a:rPr spc="-4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remain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valid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post-</a:t>
            </a:r>
            <a:r>
              <a:rPr dirty="0">
                <a:latin typeface="Times New Roman"/>
                <a:cs typeface="Times New Roman"/>
              </a:rPr>
              <a:t>task)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against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spc="-2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static-TTL</a:t>
            </a:r>
            <a:r>
              <a:rPr spc="-105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baseline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781913" y="613409"/>
            <a:ext cx="19907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TECH </a:t>
            </a:r>
            <a:r>
              <a:rPr spc="-30" dirty="0"/>
              <a:t>STACK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2979" y="1356855"/>
            <a:ext cx="8465566" cy="4663440"/>
          </a:xfrm>
          <a:prstGeom prst="rect">
            <a:avLst/>
          </a:prstGeom>
        </p:spPr>
      </p:pic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749804" y="1350517"/>
          <a:ext cx="8465184" cy="4663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30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R="53848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LAYER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6350">
                      <a:solidFill>
                        <a:srgbClr val="4471C4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0350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TOOL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R w="6350">
                      <a:solidFill>
                        <a:srgbClr val="4471C4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CI/CD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Pipeline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817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Jenkins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435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Cloud</a:t>
                      </a:r>
                      <a:r>
                        <a:rPr sz="18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Platform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AWS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(Free</a:t>
                      </a:r>
                      <a:r>
                        <a:rPr sz="18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Tier)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94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Infrastructure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8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Code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Terraform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25" dirty="0">
                          <a:latin typeface="Calibri"/>
                          <a:cs typeface="Calibri"/>
                        </a:rPr>
                        <a:t>Temporary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Credentials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AWS</a:t>
                      </a:r>
                      <a:r>
                        <a:rPr sz="18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STS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Policy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AWS</a:t>
                      </a:r>
                      <a:r>
                        <a:rPr sz="18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IAM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Activity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Logging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AWS</a:t>
                      </a:r>
                      <a:r>
                        <a:rPr sz="1800" spc="-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CloudTrail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VAPT</a:t>
                      </a:r>
                      <a:r>
                        <a:rPr sz="1800" spc="-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Scanning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OpenVAS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/</a:t>
                      </a:r>
                      <a:r>
                        <a:rPr sz="18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Nikto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Core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Logic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Python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(boto3)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Deception</a:t>
                      </a:r>
                      <a:r>
                        <a:rPr sz="18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Trigger</a:t>
                      </a:r>
                      <a:r>
                        <a:rPr sz="1800" spc="-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AWS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Lambda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8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EventBridge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Monitoring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Prometheus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Grafana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Attack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Simulation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Kali</a:t>
                      </a:r>
                      <a:r>
                        <a:rPr sz="18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latin typeface="Calibri"/>
                          <a:cs typeface="Calibri"/>
                        </a:rPr>
                        <a:t>linux</a:t>
                      </a:r>
                      <a:r>
                        <a:rPr sz="18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25" dirty="0">
                          <a:latin typeface="Calibri"/>
                          <a:cs typeface="Calibri"/>
                        </a:rPr>
                        <a:t>VM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Manifest</a:t>
                      </a:r>
                      <a:r>
                        <a:rPr sz="18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latin typeface="Calibri"/>
                          <a:cs typeface="Calibri"/>
                        </a:rPr>
                        <a:t>Format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1595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YAML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6350">
                      <a:solidFill>
                        <a:srgbClr val="4471C4"/>
                      </a:solidFill>
                      <a:prstDash val="solid"/>
                    </a:lnL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  <a:solidFill>
                      <a:srgbClr val="4471C4">
                        <a:alpha val="3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8642" rIns="0" bIns="0" rtlCol="0">
            <a:spAutoFit/>
          </a:bodyPr>
          <a:lstStyle/>
          <a:p>
            <a:pPr marL="14732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EXISTING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16939" y="1449069"/>
            <a:ext cx="9536430" cy="4087016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Uses Zero Trust Architecture for secure communication.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Focuses mainly on microservices communication.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Uses OIDC and OAuth 2.0 for user authentication and authorization.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Uses SPIFFE/SPIRE to provide secure identities to services.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Uses Istio Service Mesh to enforce secure communication and </a:t>
            </a:r>
            <a:r>
              <a:rPr lang="en-US" spc="-10" dirty="0" err="1"/>
              <a:t>mTLS</a:t>
            </a:r>
            <a:r>
              <a:rPr lang="en-US" spc="-10" dirty="0"/>
              <a:t>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Uses Open Policy Agent (OPA) for centralized policy-based authorization.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Uses short-lived security tokens to reduce long-term credential exposure.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Monitors service communication and security activities through telemetry and audit logs.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Uses </a:t>
            </a:r>
            <a:r>
              <a:rPr lang="en-US" spc="-10" dirty="0" err="1"/>
              <a:t>GitOps</a:t>
            </a:r>
            <a:r>
              <a:rPr lang="en-US" spc="-10" dirty="0"/>
              <a:t> for managing security policies.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Evaluates security using metrics such as token replay, unauthorized access, latency, and throughput.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Mainly addresses service-to-service and user-to-service access in microservices environments.</a:t>
            </a:r>
          </a:p>
          <a:p>
            <a:pPr marL="298450" indent="-285750" algn="l">
              <a:lnSpc>
                <a:spcPct val="100000"/>
              </a:lnSpc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241300" algn="l"/>
              </a:tabLst>
            </a:pPr>
            <a:r>
              <a:rPr lang="en-US" spc="-10" dirty="0"/>
              <a:t>Does not explicitly include a pre-access VAPT gate or honeytoken-based deception layer.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1811782"/>
            <a:ext cx="10327640" cy="1134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39395" algn="l"/>
              </a:tabLst>
            </a:pPr>
            <a:r>
              <a:rPr sz="2000" spc="-10" dirty="0">
                <a:latin typeface="Calibri"/>
                <a:cs typeface="Calibri"/>
              </a:rPr>
              <a:t>Establishing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Workload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Identity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Zero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Trust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CI/CD: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Secrets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SPIFFE-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Authentication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Font typeface="Arial MT"/>
              <a:buChar char="•"/>
            </a:pPr>
            <a:endParaRPr sz="2000" dirty="0">
              <a:latin typeface="Calibri"/>
              <a:cs typeface="Calibri"/>
            </a:endParaRPr>
          </a:p>
          <a:p>
            <a:pPr marL="239395" indent="-226695">
              <a:lnSpc>
                <a:spcPct val="100000"/>
              </a:lnSpc>
              <a:buFont typeface="Arial MT"/>
              <a:buChar char="•"/>
              <a:tabLst>
                <a:tab pos="239395" algn="l"/>
              </a:tabLst>
            </a:pPr>
            <a:r>
              <a:rPr sz="2000" dirty="0">
                <a:latin typeface="Calibri"/>
                <a:cs typeface="Calibri"/>
              </a:rPr>
              <a:t>Zero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Trust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Security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Implementation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Microservices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Architecture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using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Identity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Federation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06309"/>
            <a:ext cx="12191999" cy="5516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B22C95-CA36-E15A-D120-852A67293504}"/>
              </a:ext>
            </a:extLst>
          </p:cNvPr>
          <p:cNvSpPr txBox="1"/>
          <p:nvPr/>
        </p:nvSpPr>
        <p:spPr>
          <a:xfrm>
            <a:off x="938275" y="989338"/>
            <a:ext cx="479806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729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MT</vt:lpstr>
      <vt:lpstr>Calibri</vt:lpstr>
      <vt:lpstr>Times New Roman</vt:lpstr>
      <vt:lpstr>Office Theme</vt:lpstr>
      <vt:lpstr>SRI SHAKTHI INSTITUTE OF ENGINEERING AND TECHNOLOGY</vt:lpstr>
      <vt:lpstr>ZERO TRUST DEVSECOPS FRAMEWORK FOR SECURE CLOUD DEPLOYMENT</vt:lpstr>
      <vt:lpstr>PROBLEM STATEMENT</vt:lpstr>
      <vt:lpstr>ABSTRACT</vt:lpstr>
      <vt:lpstr>PROPOSED METHODOLOGY</vt:lpstr>
      <vt:lpstr>TECH STACK</vt:lpstr>
      <vt:lpstr>EXISTING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Anisha S</dc:creator>
  <cp:lastModifiedBy>ANISHA S</cp:lastModifiedBy>
  <cp:revision>3</cp:revision>
  <dcterms:created xsi:type="dcterms:W3CDTF">2026-09-26T03:04:59Z</dcterms:created>
  <dcterms:modified xsi:type="dcterms:W3CDTF">2026-09-26T04:29:52Z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2026-09-26T00:00:00Z</vt:filetime>
  </property>
  <property fmtid="{D5CDD505-2E9C-101B-9397-08002B2CF9AE}" pid="4" name="LastSaved">
    <vt:filetime>2026-09-26T00:00:00Z</vt:filetime>
  </property>
  <property fmtid="{D5CDD505-2E9C-101B-9397-08002B2CF9AE}" pid="5" name="Producer">
    <vt:lpwstr>iLovePDF</vt:lpwstr>
  </property>
</Properties>
</file>